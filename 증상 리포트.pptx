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3" autoAdjust="0"/>
    <p:restoredTop sz="94660"/>
  </p:normalViewPr>
  <p:slideViewPr>
    <p:cSldViewPr snapToGrid="0">
      <p:cViewPr varScale="1">
        <p:scale>
          <a:sx n="95" d="100"/>
          <a:sy n="95" d="100"/>
        </p:scale>
        <p:origin x="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570F79-2A7B-92D8-C25A-0F9B1A49B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6EBC943-F551-320C-CE10-9C6A112C9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34662B-2948-75A9-B9CA-9FC36A67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85948-59B4-4924-9E5C-75A9B3E042C9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735548-0B66-ED9E-9CB5-A83E5D6E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1E8E0F-BF6A-0738-DCBE-E0902D5DA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0B79-942D-41AE-81C2-A52435B333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555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43290A-44B2-0054-012D-D7EAC529F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CAC8CE-8195-9ED9-3BDD-AC83D00FC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F719BC-AC7B-1E89-8B1E-D023972E3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85948-59B4-4924-9E5C-75A9B3E042C9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B7F7F8-DF5F-8240-CEC2-153757BE4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19F13B-A67A-0B79-50B5-AF4C5C19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0B79-942D-41AE-81C2-A52435B333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18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93CE72-BB74-29A3-F3EB-87BFA29D7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EACAB0-7C65-BB74-6442-C812C9193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74F9F1-819B-4A81-B4D5-0F5D77C79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85948-59B4-4924-9E5C-75A9B3E042C9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0EF73C-2B3E-87E6-A566-513DF3C94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60525E-376E-96A6-1D51-E1F7D229C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0B79-942D-41AE-81C2-A52435B333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945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CF1E9-BBAD-E39C-F25D-CB6C9B93D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DA3952-D6BF-52FD-37C0-C118E358E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99AC27-99B5-D0BD-EEE2-E779F6F60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5A82FA-4651-76A0-AB85-77DFAB2A2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85948-59B4-4924-9E5C-75A9B3E042C9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CE2FCE-9E49-DD87-FFAC-29E7DAA1D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959D4F-650A-7853-3A9D-5E7CE2B6D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0B79-942D-41AE-81C2-A52435B333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80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4F672-CA9A-E0E6-D3B4-C74933F89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DD1DA6-A14F-1B12-9C20-C81B3BE3D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417DE5C-231B-E02F-BAD6-12A88BC0F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342CBC-8577-0145-E154-46C8E208F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9DEBDE0-4C4E-5249-1069-8E7987ECE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5C849B-96EE-60B8-17CC-FD77B5799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85948-59B4-4924-9E5C-75A9B3E042C9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506135-D292-A3A5-CED4-0A177C20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A1358F-6A4D-CD6B-0EBB-9F77BE321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0B79-942D-41AE-81C2-A52435B333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33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B8055-8582-0006-2EC6-730405684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540AAF0-E7FC-84F2-FE2A-B70C317C7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85948-59B4-4924-9E5C-75A9B3E042C9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A24C4E-9727-FB37-61D4-12CA00973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42FAD6-D29C-9DCC-A432-42D977B74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0B79-942D-41AE-81C2-A52435B333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84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8656261-7862-BF28-01B6-042F7B87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85948-59B4-4924-9E5C-75A9B3E042C9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9405792-F591-3C7C-5ABA-A69691FA8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70E3E0-45D0-5EDA-9909-DBC3D8A4D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0B79-942D-41AE-81C2-A52435B333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644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8CB42-5CBD-0C17-45E4-4A389D805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70507F-D98F-1E9C-1C88-AA5CF99CA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1A030C-8925-5AC8-2066-F1D31BDE4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1AB77D-FA41-992D-5E85-A334CBDA2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85948-59B4-4924-9E5C-75A9B3E042C9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41E9F7-DD46-5F5C-E3D9-E4B83025B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A22ECF-FD99-9C87-DAAE-6627A57D6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0B79-942D-41AE-81C2-A52435B333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089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B65D8-DE2D-ED04-0B0B-01FEFD7DB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5FFCB46-F32D-D112-7192-2003D11F681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47F05A-02FA-B67E-FD25-C99C0ED2D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3B564F-6BF9-BFCE-8D44-25C88B356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85948-59B4-4924-9E5C-75A9B3E042C9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7BA181-6269-AAF7-E817-F7E02332B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D5F8C7-D1B6-B3FB-83D2-31C0C4C0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0B79-942D-41AE-81C2-A52435B333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374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56447-5509-F94D-E105-4CD1EC123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DFEA9B-2FD1-15C9-356C-6D5A508E4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68FFDC-AB69-14AF-8E2D-00FB3257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85948-59B4-4924-9E5C-75A9B3E042C9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82920F-ED4F-4FAF-14DF-21A4DD7E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C31F6C-443B-F06D-5247-4DF0759B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0B79-942D-41AE-81C2-A52435B333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07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0190F9-0FA8-45B7-DA92-FBEFAD2C0D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E5E580-0DD8-7DF8-43BB-7DB5C4768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39BCB9-BE2B-88B4-906D-4DF59671A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85948-59B4-4924-9E5C-75A9B3E042C9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E1C7CA-3297-1EFA-6C12-A751F0A5F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9BBBB-EBC2-A81D-5776-958A4F6CA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0B79-942D-41AE-81C2-A52435B333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99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3C03E3-872E-B119-7A72-C46697893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BD96D5-7F60-C474-064B-2A06368C1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CA605F-9CEB-6069-616C-CF9434235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85948-59B4-4924-9E5C-75A9B3E042C9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FFA213-8E18-9BD9-11D7-ACFFF7281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22D3EC-87A1-D5C1-CE8D-B446DC1AF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70B79-942D-41AE-81C2-A52435B333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70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mj8521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192.168.100.31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305241-B56F-934E-1C55-FBF63501E3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증상 리포트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C4A906-CFF8-F08C-65C2-4D97AB8129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건국대학교 서울캠퍼스 문창주 교수 연구실</a:t>
            </a:r>
            <a:endParaRPr lang="en-US" altLang="ko-KR"/>
          </a:p>
          <a:p>
            <a:r>
              <a:rPr lang="ko-KR" altLang="en-US"/>
              <a:t>석사과정 정 명 준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12B9D-7F76-37C2-36A7-0C00401F18D7}"/>
              </a:ext>
            </a:extLst>
          </p:cNvPr>
          <p:cNvSpPr txBox="1"/>
          <p:nvPr/>
        </p:nvSpPr>
        <p:spPr>
          <a:xfrm>
            <a:off x="7998488" y="4963886"/>
            <a:ext cx="3969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email: </a:t>
            </a:r>
            <a:r>
              <a:rPr lang="en-US" altLang="ko-KR">
                <a:hlinkClick r:id="rId2"/>
              </a:rPr>
              <a:t>jmj8521@gmail.com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195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E9F19-60A8-131B-9657-FB0488F9F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기본정보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2F631D4-90C8-1709-B63C-825B8F9C80D1}"/>
              </a:ext>
            </a:extLst>
          </p:cNvPr>
          <p:cNvSpPr txBox="1">
            <a:spLocks/>
          </p:cNvSpPr>
          <p:nvPr/>
        </p:nvSpPr>
        <p:spPr>
          <a:xfrm>
            <a:off x="838200" y="180122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/>
              <a:t>[</a:t>
            </a:r>
            <a:r>
              <a:rPr lang="ko-KR" altLang="en-US" sz="1400"/>
              <a:t>사용 운영체제</a:t>
            </a:r>
            <a:r>
              <a:rPr lang="en-US" altLang="ko-KR" sz="1400"/>
              <a:t>] 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8856CC-1F89-0222-DBC7-A8343C5E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8625"/>
            <a:ext cx="4313227" cy="377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038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FC4B5-F4AB-125A-4BD2-A9BC6DB5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6EDB90-8CAC-6596-F1DA-85C43A4FB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증상 요약 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1B0B1FE-76A1-96AD-D80E-E01541484599}"/>
              </a:ext>
            </a:extLst>
          </p:cNvPr>
          <p:cNvSpPr txBox="1">
            <a:spLocks/>
          </p:cNvSpPr>
          <p:nvPr/>
        </p:nvSpPr>
        <p:spPr>
          <a:xfrm>
            <a:off x="838200" y="180122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ko-KR" sz="1400"/>
              <a:t>VPN</a:t>
            </a:r>
            <a:r>
              <a:rPr lang="ko-KR" altLang="en-US" sz="1400"/>
              <a:t> 설치 및 로그인 성공</a:t>
            </a:r>
            <a:endParaRPr lang="en-US" altLang="ko-KR" sz="140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ko-KR" sz="1400"/>
              <a:t>RNTier </a:t>
            </a:r>
            <a:r>
              <a:rPr lang="ko-KR" altLang="en-US" sz="1400"/>
              <a:t>접속 및 로그인</a:t>
            </a:r>
            <a:r>
              <a:rPr lang="en-US" altLang="ko-KR" sz="1400"/>
              <a:t> </a:t>
            </a:r>
            <a:r>
              <a:rPr lang="ko-KR" altLang="en-US" sz="1400"/>
              <a:t>성공</a:t>
            </a:r>
            <a:endParaRPr lang="en-US" altLang="ko-KR" sz="140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ko-KR" sz="1400"/>
              <a:t>RNTier </a:t>
            </a:r>
            <a:r>
              <a:rPr lang="ko-KR" altLang="en-US" sz="1400"/>
              <a:t>사용자 지원</a:t>
            </a:r>
            <a:r>
              <a:rPr lang="en-US" altLang="ko-KR" sz="1400"/>
              <a:t>-</a:t>
            </a:r>
            <a:r>
              <a:rPr lang="ko-KR" altLang="en-US" sz="1400"/>
              <a:t>프로그램 설치에서 </a:t>
            </a:r>
            <a:r>
              <a:rPr lang="en-US" altLang="ko-KR" sz="1400"/>
              <a:t>RNTier Launcher </a:t>
            </a:r>
            <a:r>
              <a:rPr lang="ko-KR" altLang="en-US" sz="1400"/>
              <a:t>다운로드 및 유틸리티 프로그램 설치 성공</a:t>
            </a:r>
            <a:endParaRPr lang="en-US" altLang="ko-KR" sz="140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ko-KR" altLang="en-US" sz="1400"/>
              <a:t>컨테이너 생성 및 빌드 성공</a:t>
            </a:r>
            <a:endParaRPr lang="en-US" altLang="ko-KR" sz="140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ko-KR" sz="1400">
                <a:solidFill>
                  <a:srgbClr val="FF0000"/>
                </a:solidFill>
              </a:rPr>
              <a:t>VS code </a:t>
            </a:r>
            <a:r>
              <a:rPr lang="ko-KR" altLang="en-US" sz="1400">
                <a:solidFill>
                  <a:srgbClr val="FF0000"/>
                </a:solidFill>
              </a:rPr>
              <a:t>및 </a:t>
            </a:r>
            <a:r>
              <a:rPr lang="en-US" altLang="ko-KR" sz="1400">
                <a:solidFill>
                  <a:srgbClr val="FF0000"/>
                </a:solidFill>
              </a:rPr>
              <a:t>linux desktop </a:t>
            </a:r>
            <a:r>
              <a:rPr lang="ko-KR" altLang="en-US" sz="1400">
                <a:solidFill>
                  <a:srgbClr val="FF0000"/>
                </a:solidFill>
              </a:rPr>
              <a:t>접속 실패</a:t>
            </a:r>
            <a:endParaRPr lang="en-US" altLang="ko-KR" sz="140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altLang="ko-KR" sz="1400"/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altLang="ko-KR" sz="1400"/>
          </a:p>
        </p:txBody>
      </p:sp>
    </p:spTree>
    <p:extLst>
      <p:ext uri="{BB962C8B-B14F-4D97-AF65-F5344CB8AC3E}">
        <p14:creationId xmlns:p14="http://schemas.microsoft.com/office/powerpoint/2010/main" val="127053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E945A-8F28-4BF4-97DC-B3733C796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진행세부현황</a:t>
            </a:r>
            <a:r>
              <a:rPr lang="en-US" altLang="ko-KR"/>
              <a:t>(VPN </a:t>
            </a:r>
            <a:r>
              <a:rPr lang="ko-KR" altLang="en-US"/>
              <a:t>설치 및 로그인</a:t>
            </a:r>
            <a:r>
              <a:rPr lang="en-US" altLang="ko-KR"/>
              <a:t>:</a:t>
            </a:r>
            <a:r>
              <a:rPr lang="ko-KR" altLang="en-US"/>
              <a:t>성공</a:t>
            </a:r>
            <a:r>
              <a:rPr lang="en-US" altLang="ko-KR"/>
              <a:t>) 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1234FA-BA97-C634-8AB1-6EDA8F93D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/>
              <a:t>[1. VPN</a:t>
            </a:r>
            <a:r>
              <a:rPr lang="ko-KR" altLang="en-US" sz="1400"/>
              <a:t> 설치 및 로그인</a:t>
            </a:r>
            <a:r>
              <a:rPr lang="en-US" altLang="ko-KR" sz="1400"/>
              <a:t>] </a:t>
            </a:r>
          </a:p>
          <a:p>
            <a:pPr marL="0" indent="0">
              <a:buNone/>
            </a:pPr>
            <a:r>
              <a:rPr lang="ko-KR" altLang="en-US" sz="1400"/>
              <a:t>배포된 </a:t>
            </a:r>
            <a:r>
              <a:rPr lang="en-US" altLang="ko-KR" sz="1400"/>
              <a:t>BLUEMAX NGF SSL VPN Client </a:t>
            </a:r>
            <a:r>
              <a:rPr lang="ko-KR" altLang="en-US" sz="1400"/>
              <a:t>사용자 설치 가이드</a:t>
            </a:r>
            <a:r>
              <a:rPr lang="en-US" altLang="ko-KR" sz="1400"/>
              <a:t>(PC-Window </a:t>
            </a:r>
            <a:r>
              <a:rPr lang="ko-KR" altLang="en-US" sz="1400"/>
              <a:t>사용자</a:t>
            </a:r>
            <a:r>
              <a:rPr lang="en-US" altLang="ko-KR" sz="1400"/>
              <a:t>).ppt</a:t>
            </a:r>
            <a:r>
              <a:rPr lang="ko-KR" altLang="en-US" sz="1400"/>
              <a:t> 파일에 따라 진행</a:t>
            </a:r>
            <a:endParaRPr lang="en-US" altLang="ko-KR" sz="1400"/>
          </a:p>
          <a:p>
            <a:pPr marL="0" indent="0">
              <a:buNone/>
            </a:pPr>
            <a:r>
              <a:rPr lang="ko-KR" altLang="en-US" sz="1400"/>
              <a:t>인증서 등록 및 로그인 성공</a:t>
            </a:r>
            <a:endParaRPr lang="en-US" altLang="ko-KR" sz="1400"/>
          </a:p>
          <a:p>
            <a:pPr marL="0" indent="0">
              <a:buNone/>
            </a:pPr>
            <a:r>
              <a:rPr lang="en-US" altLang="ko-KR" sz="1400"/>
              <a:t>user name: kku_user005 </a:t>
            </a:r>
          </a:p>
          <a:p>
            <a:pPr marL="0" indent="0">
              <a:buNone/>
            </a:pPr>
            <a:endParaRPr lang="en-US" altLang="ko-KR" sz="1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DFBC67-27CF-63EF-D505-CBE9D71BF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53959"/>
            <a:ext cx="5009051" cy="30579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F9493E4-79EB-28F5-C7CB-D755E7B7DD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254"/>
          <a:stretch>
            <a:fillRect/>
          </a:stretch>
        </p:blipFill>
        <p:spPr>
          <a:xfrm>
            <a:off x="6920237" y="4280597"/>
            <a:ext cx="5130940" cy="10249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D14978-CEA5-98C5-B89F-C694055234AE}"/>
              </a:ext>
            </a:extLst>
          </p:cNvPr>
          <p:cNvSpPr txBox="1"/>
          <p:nvPr/>
        </p:nvSpPr>
        <p:spPr>
          <a:xfrm>
            <a:off x="1085222" y="6430945"/>
            <a:ext cx="2873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[VPN </a:t>
            </a:r>
            <a:r>
              <a:rPr lang="ko-KR" altLang="en-US" sz="1400"/>
              <a:t>실행 화면</a:t>
            </a:r>
            <a:r>
              <a:rPr lang="en-US" altLang="ko-KR" sz="1400"/>
              <a:t>] </a:t>
            </a:r>
            <a:endParaRPr lang="ko-KR" alt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ACE538-01FD-AEA1-EBC3-673728401A37}"/>
              </a:ext>
            </a:extLst>
          </p:cNvPr>
          <p:cNvSpPr txBox="1"/>
          <p:nvPr/>
        </p:nvSpPr>
        <p:spPr>
          <a:xfrm>
            <a:off x="6920237" y="6398679"/>
            <a:ext cx="2873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[Get-NetAdapter </a:t>
            </a:r>
            <a:r>
              <a:rPr lang="ko-KR" altLang="en-US" sz="1400"/>
              <a:t>명령</a:t>
            </a:r>
            <a:r>
              <a:rPr lang="en-US" altLang="ko-KR" sz="1400"/>
              <a:t>] </a:t>
            </a:r>
            <a:endParaRPr lang="ko-KR" altLang="en-US" sz="1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963043-00D8-3235-D605-1337B74E937F}"/>
              </a:ext>
            </a:extLst>
          </p:cNvPr>
          <p:cNvSpPr/>
          <p:nvPr/>
        </p:nvSpPr>
        <p:spPr>
          <a:xfrm>
            <a:off x="2847616" y="3969442"/>
            <a:ext cx="1111436" cy="3111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2ECAE9-AAB8-B03C-9B22-12AE431D642E}"/>
              </a:ext>
            </a:extLst>
          </p:cNvPr>
          <p:cNvSpPr txBox="1"/>
          <p:nvPr/>
        </p:nvSpPr>
        <p:spPr>
          <a:xfrm>
            <a:off x="2748183" y="4261645"/>
            <a:ext cx="2481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rgbClr val="FF0000"/>
                </a:solidFill>
              </a:rPr>
              <a:t>임대 </a:t>
            </a:r>
            <a:r>
              <a:rPr lang="en-US" altLang="ko-KR" sz="1400">
                <a:solidFill>
                  <a:srgbClr val="FF0000"/>
                </a:solidFill>
              </a:rPr>
              <a:t>IP: 192.168.250.5 </a:t>
            </a:r>
            <a:r>
              <a:rPr lang="ko-KR" altLang="en-US" sz="1400">
                <a:solidFill>
                  <a:srgbClr val="FF0000"/>
                </a:solidFill>
              </a:rPr>
              <a:t>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E5F9A5-9001-C216-DD97-2D8221A0469F}"/>
              </a:ext>
            </a:extLst>
          </p:cNvPr>
          <p:cNvSpPr/>
          <p:nvPr/>
        </p:nvSpPr>
        <p:spPr>
          <a:xfrm>
            <a:off x="4765960" y="3457697"/>
            <a:ext cx="1111436" cy="3111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D1AF07-43B5-3A3A-C501-98E9F7751EA6}"/>
              </a:ext>
            </a:extLst>
          </p:cNvPr>
          <p:cNvSpPr txBox="1"/>
          <p:nvPr/>
        </p:nvSpPr>
        <p:spPr>
          <a:xfrm>
            <a:off x="4727497" y="3772126"/>
            <a:ext cx="2481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</a:rPr>
              <a:t>user name: kku_user005</a:t>
            </a:r>
            <a:endParaRPr lang="ko-KR" alt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190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22307-F594-3631-9C09-0D3A3339E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C87B4-120B-A39B-9108-3EE06AB16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진행세부현황</a:t>
            </a:r>
            <a:r>
              <a:rPr lang="en-US" altLang="ko-KR"/>
              <a:t>(RNTier </a:t>
            </a:r>
            <a:r>
              <a:rPr lang="ko-KR" altLang="en-US"/>
              <a:t>접속</a:t>
            </a:r>
            <a:r>
              <a:rPr lang="en-US" altLang="ko-KR"/>
              <a:t>,</a:t>
            </a:r>
            <a:r>
              <a:rPr lang="ko-KR" altLang="en-US"/>
              <a:t> 로그인</a:t>
            </a:r>
            <a:r>
              <a:rPr lang="en-US" altLang="ko-KR"/>
              <a:t>:</a:t>
            </a:r>
            <a:r>
              <a:rPr lang="ko-KR" altLang="en-US"/>
              <a:t>성공</a:t>
            </a:r>
            <a:r>
              <a:rPr lang="en-US" altLang="ko-KR"/>
              <a:t>) 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580E4C-129A-66C7-26D6-AA1A22812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/>
              <a:t>[VPN</a:t>
            </a:r>
            <a:r>
              <a:rPr lang="ko-KR" altLang="en-US" sz="1400"/>
              <a:t> </a:t>
            </a:r>
            <a:r>
              <a:rPr lang="en-US" altLang="ko-KR" sz="1400"/>
              <a:t>on] </a:t>
            </a:r>
          </a:p>
          <a:p>
            <a:pPr marL="0" indent="0">
              <a:buNone/>
            </a:pPr>
            <a:r>
              <a:rPr lang="en-US" altLang="ko-KR" sz="1400"/>
              <a:t>VPN </a:t>
            </a:r>
            <a:r>
              <a:rPr lang="ko-KR" altLang="en-US" sz="1400"/>
              <a:t>켜져있는 상태 확인</a:t>
            </a:r>
            <a:r>
              <a:rPr lang="en-US" altLang="ko-KR" sz="1400"/>
              <a:t> </a:t>
            </a:r>
          </a:p>
          <a:p>
            <a:pPr marL="0" indent="0">
              <a:buNone/>
            </a:pPr>
            <a:r>
              <a:rPr lang="en-US" altLang="ko-KR" sz="1400"/>
              <a:t>[RNTier </a:t>
            </a:r>
            <a:r>
              <a:rPr lang="ko-KR" altLang="en-US" sz="1400"/>
              <a:t>접속</a:t>
            </a:r>
            <a:r>
              <a:rPr lang="en-US" altLang="ko-KR" sz="1400"/>
              <a:t>]</a:t>
            </a:r>
          </a:p>
          <a:p>
            <a:pPr marL="0" indent="0">
              <a:buNone/>
            </a:pPr>
            <a:r>
              <a:rPr lang="en-US" altLang="ko-KR" sz="1400"/>
              <a:t>Chrome</a:t>
            </a:r>
            <a:r>
              <a:rPr lang="ko-KR" altLang="en-US" sz="1400"/>
              <a:t>브라우저를 통해 </a:t>
            </a:r>
            <a:r>
              <a:rPr lang="en-US" altLang="ko-KR" sz="1400"/>
              <a:t>RNTier </a:t>
            </a:r>
            <a:r>
              <a:rPr lang="ko-KR" altLang="en-US" sz="1400"/>
              <a:t>포털 접속 </a:t>
            </a:r>
            <a:r>
              <a:rPr lang="en-US" altLang="ko-KR" sz="1400"/>
              <a:t>(</a:t>
            </a:r>
            <a:r>
              <a:rPr lang="en-US" altLang="ko-KR" sz="1400">
                <a:hlinkClick r:id="rId2"/>
              </a:rPr>
              <a:t>http://192.168.100.31/</a:t>
            </a:r>
            <a:r>
              <a:rPr lang="en-US" altLang="ko-KR" sz="1400"/>
              <a:t>) </a:t>
            </a:r>
          </a:p>
          <a:p>
            <a:pPr marL="0" indent="0">
              <a:buNone/>
            </a:pPr>
            <a:endParaRPr lang="en-US" altLang="ko-KR" sz="14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0B4425-13A0-0936-DF91-FAE9B0C18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05871"/>
            <a:ext cx="5426110" cy="25350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77C399-6D3D-2546-AC24-9B1EF8A55663}"/>
              </a:ext>
            </a:extLst>
          </p:cNvPr>
          <p:cNvSpPr txBox="1"/>
          <p:nvPr/>
        </p:nvSpPr>
        <p:spPr>
          <a:xfrm>
            <a:off x="1045029" y="6074229"/>
            <a:ext cx="3513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[</a:t>
            </a:r>
            <a:r>
              <a:rPr lang="ko-KR" altLang="en-US"/>
              <a:t>실행 화면</a:t>
            </a:r>
            <a:r>
              <a:rPr lang="en-US" altLang="ko-KR"/>
              <a:t>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21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6C393-C607-E2E7-064F-0E526CF48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CB0102-62AA-C6B1-F4DD-AC48AFFF0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진행세부현황</a:t>
            </a:r>
            <a:r>
              <a:rPr lang="en-US" altLang="ko-KR"/>
              <a:t>(RNTier </a:t>
            </a:r>
            <a:r>
              <a:rPr lang="ko-KR" altLang="en-US"/>
              <a:t>관련 설치</a:t>
            </a:r>
            <a:r>
              <a:rPr lang="en-US" altLang="ko-KR"/>
              <a:t>: </a:t>
            </a:r>
            <a:r>
              <a:rPr lang="ko-KR" altLang="en-US"/>
              <a:t>성공</a:t>
            </a:r>
            <a:r>
              <a:rPr lang="en-US" altLang="ko-KR"/>
              <a:t>) 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EC46AA-5A80-2477-9441-89C13E548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/>
              <a:t>[</a:t>
            </a:r>
            <a:r>
              <a:rPr lang="ko-KR" altLang="en-US" sz="1400"/>
              <a:t>필수 프로그램</a:t>
            </a:r>
            <a:r>
              <a:rPr lang="en-US" altLang="ko-KR" sz="1400"/>
              <a:t>, </a:t>
            </a:r>
            <a:r>
              <a:rPr lang="ko-KR" altLang="en-US" sz="1400"/>
              <a:t>유틸리티 프로그램 설치</a:t>
            </a:r>
            <a:r>
              <a:rPr lang="en-US" altLang="ko-KR" sz="1400"/>
              <a:t>] </a:t>
            </a:r>
          </a:p>
          <a:p>
            <a:pPr marL="0" indent="0">
              <a:buNone/>
            </a:pPr>
            <a:r>
              <a:rPr lang="ko-KR" altLang="en-US" sz="1400"/>
              <a:t>포털 내 안내에 따라 관련 프로그램 설치 성공 </a:t>
            </a:r>
            <a:r>
              <a:rPr lang="en-US" altLang="ko-KR" sz="1400"/>
              <a:t>(RNTier Launcher, Terminal </a:t>
            </a:r>
            <a:r>
              <a:rPr lang="ko-KR" altLang="en-US" sz="1400"/>
              <a:t>접속</a:t>
            </a:r>
            <a:r>
              <a:rPr lang="en-US" altLang="ko-KR" sz="1400"/>
              <a:t>, X-GUI, Linux Desktop </a:t>
            </a:r>
            <a:r>
              <a:rPr lang="ko-KR" altLang="en-US" sz="1400"/>
              <a:t>관련</a:t>
            </a:r>
            <a:r>
              <a:rPr lang="en-US" altLang="ko-KR" sz="1400"/>
              <a:t>) </a:t>
            </a:r>
          </a:p>
          <a:p>
            <a:pPr marL="0" indent="0">
              <a:buNone/>
            </a:pPr>
            <a:endParaRPr lang="en-US" altLang="ko-KR" sz="1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1BE889-A554-BD9F-FAF4-2EF45797C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52" y="2718092"/>
            <a:ext cx="7929154" cy="377478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FF83304-67EC-ADCE-9833-84C70744B139}"/>
              </a:ext>
            </a:extLst>
          </p:cNvPr>
          <p:cNvSpPr/>
          <p:nvPr/>
        </p:nvSpPr>
        <p:spPr>
          <a:xfrm>
            <a:off x="6451042" y="3305908"/>
            <a:ext cx="1647929" cy="3186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228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FD2ED-4F98-AD99-8F0C-4367A6BFE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71898-35F6-8405-E769-909A3BCD0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진행세부현황</a:t>
            </a:r>
            <a:r>
              <a:rPr lang="en-US" altLang="ko-KR"/>
              <a:t>(</a:t>
            </a:r>
            <a:r>
              <a:rPr lang="ko-KR" altLang="en-US"/>
              <a:t>컨테이너 생성</a:t>
            </a:r>
            <a:r>
              <a:rPr lang="en-US" altLang="ko-KR"/>
              <a:t>) 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91B164-6EB2-7866-0D91-7C350DFD6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/>
              <a:t>[</a:t>
            </a:r>
            <a:r>
              <a:rPr lang="ko-KR" altLang="en-US" sz="1400"/>
              <a:t>컨테이너 생성</a:t>
            </a:r>
            <a:r>
              <a:rPr lang="en-US" altLang="ko-KR" sz="1400"/>
              <a:t>: 1.</a:t>
            </a:r>
            <a:r>
              <a:rPr lang="ko-KR" altLang="en-US" sz="1400"/>
              <a:t>이미지</a:t>
            </a:r>
            <a:r>
              <a:rPr lang="en-US" altLang="ko-KR" sz="1400"/>
              <a:t>] </a:t>
            </a:r>
          </a:p>
          <a:p>
            <a:pPr marL="0" indent="0">
              <a:buNone/>
            </a:pPr>
            <a:r>
              <a:rPr lang="en-US" altLang="ko-KR" sz="1400"/>
              <a:t>Base image : rntier4-standard-pytorch-ubuntu22.04-vnc </a:t>
            </a:r>
            <a:r>
              <a:rPr lang="ko-KR" altLang="en-US" sz="1400"/>
              <a:t>로 설정</a:t>
            </a:r>
            <a:endParaRPr lang="en-US" altLang="ko-KR" sz="14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F13000-F76B-1A86-ABFF-8618E4DD7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36332"/>
            <a:ext cx="7938198" cy="315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881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B4370-D798-D173-03E0-9B41049CC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43978-E780-B157-91D0-E0F43B2F5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진행세부현황</a:t>
            </a:r>
            <a:r>
              <a:rPr lang="en-US" altLang="ko-KR"/>
              <a:t>(</a:t>
            </a:r>
            <a:r>
              <a:rPr lang="ko-KR" altLang="en-US"/>
              <a:t>컨테이너 생성</a:t>
            </a:r>
            <a:r>
              <a:rPr lang="en-US" altLang="ko-KR"/>
              <a:t>) 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BD1431-FFF0-265F-B068-500D64BE9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/>
              <a:t>[</a:t>
            </a:r>
            <a:r>
              <a:rPr lang="ko-KR" altLang="en-US" sz="1400"/>
              <a:t>컨테이너 생성</a:t>
            </a:r>
            <a:r>
              <a:rPr lang="en-US" altLang="ko-KR" sz="1400"/>
              <a:t>: 2.</a:t>
            </a:r>
            <a:r>
              <a:rPr lang="ko-KR" altLang="en-US" sz="1400"/>
              <a:t>자원</a:t>
            </a:r>
            <a:r>
              <a:rPr lang="en-US" altLang="ko-KR" sz="1400"/>
              <a:t>] </a:t>
            </a:r>
          </a:p>
          <a:p>
            <a:pPr marL="0" indent="0">
              <a:buNone/>
            </a:pPr>
            <a:endParaRPr lang="en-US" altLang="ko-KR" sz="1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433D19-3000-2558-4965-A1CC1B341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68880"/>
            <a:ext cx="7519167" cy="341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17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D746B-5680-52B7-8265-B93DC151E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E9824B-8F50-C51E-6E0F-F71B124D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진행세부현황</a:t>
            </a:r>
            <a:r>
              <a:rPr lang="en-US" altLang="ko-KR"/>
              <a:t>(</a:t>
            </a:r>
            <a:r>
              <a:rPr lang="ko-KR" altLang="en-US"/>
              <a:t>컨테이너 생성</a:t>
            </a:r>
            <a:r>
              <a:rPr lang="en-US" altLang="ko-KR"/>
              <a:t>) 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65461F-DD21-655C-F029-F64A51DD0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/>
              <a:t>[</a:t>
            </a:r>
            <a:r>
              <a:rPr lang="ko-KR" altLang="en-US" sz="1400"/>
              <a:t>컨테이너 생성</a:t>
            </a:r>
            <a:r>
              <a:rPr lang="en-US" altLang="ko-KR" sz="1400"/>
              <a:t>: 3. </a:t>
            </a:r>
            <a:r>
              <a:rPr lang="ko-KR" altLang="en-US" sz="1400"/>
              <a:t>작업 폴더</a:t>
            </a:r>
            <a:r>
              <a:rPr lang="en-US" altLang="ko-KR" sz="1400"/>
              <a:t>]</a:t>
            </a:r>
          </a:p>
          <a:p>
            <a:pPr marL="0" indent="0">
              <a:buNone/>
            </a:pPr>
            <a:r>
              <a:rPr lang="ko-KR" altLang="en-US" sz="1400"/>
              <a:t>임의로 타겟 컨테이너 폴더 이름을 설정 </a:t>
            </a:r>
            <a:r>
              <a:rPr lang="en-US" altLang="ko-KR" sz="1400"/>
              <a:t>(/idplab_503_home)</a:t>
            </a:r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r>
              <a:rPr lang="en-US" altLang="ko-KR" sz="1400"/>
              <a:t> </a:t>
            </a:r>
          </a:p>
          <a:p>
            <a:pPr marL="0" indent="0">
              <a:buNone/>
            </a:pPr>
            <a:endParaRPr lang="en-US" altLang="ko-KR" sz="14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0F52E0D-41CC-B2F1-749A-5448E9553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5419"/>
            <a:ext cx="102298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91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1FF11-D072-E5EC-50A6-50DCE4636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474D21-5B35-8E10-17C5-4DEA6182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진행세부현황</a:t>
            </a:r>
            <a:r>
              <a:rPr lang="en-US" altLang="ko-KR"/>
              <a:t>(</a:t>
            </a:r>
            <a:r>
              <a:rPr lang="ko-KR" altLang="en-US"/>
              <a:t>컨테이너 생성</a:t>
            </a:r>
            <a:r>
              <a:rPr lang="en-US" altLang="ko-KR"/>
              <a:t>) 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C1270E-9C5C-D357-19A3-742639753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/>
              <a:t>[</a:t>
            </a:r>
            <a:r>
              <a:rPr lang="ko-KR" altLang="en-US" sz="1400"/>
              <a:t>컨테이너 생성</a:t>
            </a:r>
            <a:r>
              <a:rPr lang="en-US" altLang="ko-KR" sz="1400"/>
              <a:t>: 4.</a:t>
            </a:r>
            <a:r>
              <a:rPr lang="ko-KR" altLang="en-US" sz="1400"/>
              <a:t> </a:t>
            </a:r>
            <a:r>
              <a:rPr lang="en-US" altLang="ko-KR" sz="1400"/>
              <a:t>S/W]</a:t>
            </a:r>
          </a:p>
          <a:p>
            <a:pPr marL="0" indent="0">
              <a:buNone/>
            </a:pPr>
            <a:r>
              <a:rPr lang="en-US" altLang="ko-KR" sz="1400"/>
              <a:t>miniconda </a:t>
            </a:r>
            <a:r>
              <a:rPr lang="ko-KR" altLang="en-US" sz="1400"/>
              <a:t>선택 시 빌드 문제 발견</a:t>
            </a:r>
            <a:r>
              <a:rPr lang="en-US" altLang="ko-KR" sz="1400"/>
              <a:t>, vscode </a:t>
            </a:r>
            <a:r>
              <a:rPr lang="ko-KR" altLang="en-US" sz="1400"/>
              <a:t>만 설치 시도</a:t>
            </a: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r>
              <a:rPr lang="en-US" altLang="ko-KR" sz="1400"/>
              <a:t> </a:t>
            </a:r>
          </a:p>
          <a:p>
            <a:pPr marL="0" indent="0">
              <a:buNone/>
            </a:pPr>
            <a:endParaRPr lang="en-US" altLang="ko-KR" sz="1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69E6895-0A95-009E-3E5B-12832B30C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33103"/>
            <a:ext cx="8582297" cy="393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457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330A0-8A20-0D1A-C391-A1E53F29C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624DD2-338F-2F1A-D572-5BF09321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진행세부현황</a:t>
            </a:r>
            <a:r>
              <a:rPr lang="en-US" altLang="ko-KR"/>
              <a:t>(</a:t>
            </a:r>
            <a:r>
              <a:rPr lang="ko-KR" altLang="en-US"/>
              <a:t>컨테이너 생성</a:t>
            </a:r>
            <a:r>
              <a:rPr lang="en-US" altLang="ko-KR"/>
              <a:t>) 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E624CF-A2EC-ABAD-415C-F3B80DE9E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/>
              <a:t>[</a:t>
            </a:r>
            <a:r>
              <a:rPr lang="ko-KR" altLang="en-US" sz="1400"/>
              <a:t>컨테이너 생성</a:t>
            </a:r>
            <a:r>
              <a:rPr lang="en-US" altLang="ko-KR" sz="1400"/>
              <a:t>: 5.</a:t>
            </a:r>
            <a:r>
              <a:rPr lang="ko-KR" altLang="en-US" sz="1400"/>
              <a:t> 옵션</a:t>
            </a:r>
            <a:r>
              <a:rPr lang="en-US" altLang="ko-KR" sz="1400"/>
              <a:t>]</a:t>
            </a:r>
          </a:p>
          <a:p>
            <a:pPr marL="0" indent="0">
              <a:buNone/>
            </a:pPr>
            <a:r>
              <a:rPr lang="ko-KR" altLang="en-US" sz="1400"/>
              <a:t>별도 설정 안함 </a:t>
            </a: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r>
              <a:rPr lang="en-US" altLang="ko-KR" sz="1400"/>
              <a:t> </a:t>
            </a:r>
          </a:p>
          <a:p>
            <a:pPr marL="0" indent="0">
              <a:buNone/>
            </a:pPr>
            <a:endParaRPr lang="en-US" altLang="ko-KR" sz="14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0D030B4-2672-A80F-6E75-B9FA2DAFF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28" y="2560184"/>
            <a:ext cx="10963275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250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FD654-5D95-76B2-89AF-B3AB6D02C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DD960B-2B11-FE33-1082-577176FBA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진행세부현황</a:t>
            </a:r>
            <a:r>
              <a:rPr lang="en-US" altLang="ko-KR"/>
              <a:t>(</a:t>
            </a:r>
            <a:r>
              <a:rPr lang="ko-KR" altLang="en-US"/>
              <a:t>컨테이너 생성</a:t>
            </a:r>
            <a:r>
              <a:rPr lang="en-US" altLang="ko-KR"/>
              <a:t>) 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56CA4A-2771-3DC3-38FF-887660A0A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/>
              <a:t>[</a:t>
            </a:r>
            <a:r>
              <a:rPr lang="ko-KR" altLang="en-US" sz="1400"/>
              <a:t>컨테이너 생성</a:t>
            </a:r>
            <a:r>
              <a:rPr lang="en-US" altLang="ko-KR" sz="1400"/>
              <a:t> </a:t>
            </a:r>
            <a:r>
              <a:rPr lang="ko-KR" altLang="en-US" sz="1400"/>
              <a:t>확인</a:t>
            </a:r>
            <a:r>
              <a:rPr lang="en-US" altLang="ko-KR" sz="1400"/>
              <a:t>]</a:t>
            </a:r>
          </a:p>
          <a:p>
            <a:pPr marL="0" indent="0">
              <a:buNone/>
            </a:pPr>
            <a:r>
              <a:rPr lang="ko-KR" altLang="en-US" sz="1400"/>
              <a:t>빌드 성공</a:t>
            </a:r>
            <a:r>
              <a:rPr lang="en-US" altLang="ko-KR" sz="1400"/>
              <a:t>, </a:t>
            </a:r>
            <a:r>
              <a:rPr lang="ko-KR" altLang="en-US" sz="1400"/>
              <a:t>사용 이미지명</a:t>
            </a:r>
            <a:r>
              <a:rPr lang="en-US" altLang="ko-KR" sz="1400"/>
              <a:t>:idplab503-dctn-1006160703</a:t>
            </a:r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r>
              <a:rPr lang="en-US" altLang="ko-KR" sz="1400"/>
              <a:t> </a:t>
            </a:r>
          </a:p>
          <a:p>
            <a:pPr marL="0" indent="0">
              <a:buNone/>
            </a:pPr>
            <a:endParaRPr lang="en-US" altLang="ko-KR" sz="1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9A64D7-7933-378C-87C7-30CD2F9D9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97" y="2502500"/>
            <a:ext cx="8331926" cy="126527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D2B5E97-A1BE-4ADE-3DBF-61360CE0E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97" y="3783856"/>
            <a:ext cx="4643702" cy="295657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0289214-BBB6-60AB-8668-B0AE398DC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457" y="3819525"/>
            <a:ext cx="389572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292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05E58-D92A-0ABE-4FA5-46960B330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BB6DD-2215-AF6D-5C60-97C402EE6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진행세부현황</a:t>
            </a:r>
            <a:r>
              <a:rPr lang="en-US" altLang="ko-KR"/>
              <a:t>(</a:t>
            </a:r>
            <a:r>
              <a:rPr lang="en-US" altLang="ko-KR">
                <a:solidFill>
                  <a:srgbClr val="FF0000"/>
                </a:solidFill>
              </a:rPr>
              <a:t>VScode </a:t>
            </a:r>
            <a:r>
              <a:rPr lang="ko-KR" altLang="en-US">
                <a:solidFill>
                  <a:srgbClr val="FF0000"/>
                </a:solidFill>
              </a:rPr>
              <a:t>및 </a:t>
            </a:r>
            <a:r>
              <a:rPr lang="en-US" altLang="ko-KR">
                <a:solidFill>
                  <a:srgbClr val="FF0000"/>
                </a:solidFill>
              </a:rPr>
              <a:t>Linux Desktop </a:t>
            </a:r>
            <a:r>
              <a:rPr lang="ko-KR" altLang="en-US">
                <a:solidFill>
                  <a:srgbClr val="FF0000"/>
                </a:solidFill>
              </a:rPr>
              <a:t>접속 시도</a:t>
            </a:r>
            <a:r>
              <a:rPr lang="en-US" altLang="ko-KR">
                <a:solidFill>
                  <a:srgbClr val="FF0000"/>
                </a:solidFill>
              </a:rPr>
              <a:t>: </a:t>
            </a:r>
            <a:r>
              <a:rPr lang="ko-KR" altLang="en-US">
                <a:solidFill>
                  <a:srgbClr val="FF0000"/>
                </a:solidFill>
              </a:rPr>
              <a:t>실패</a:t>
            </a:r>
            <a:r>
              <a:rPr lang="en-US" altLang="ko-KR"/>
              <a:t>) 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483D30-85AB-D1DD-79CD-689344B1F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/>
              <a:t>[Linux Desktop / terminal </a:t>
            </a:r>
            <a:r>
              <a:rPr lang="ko-KR" altLang="en-US" sz="1400"/>
              <a:t>접속 시도</a:t>
            </a:r>
            <a:r>
              <a:rPr lang="en-US" altLang="ko-KR" sz="1400"/>
              <a:t>: </a:t>
            </a:r>
            <a:r>
              <a:rPr lang="ko-KR" altLang="en-US" sz="1400" b="1"/>
              <a:t>실패</a:t>
            </a:r>
            <a:r>
              <a:rPr lang="en-US" altLang="ko-KR" sz="1400"/>
              <a:t>]</a:t>
            </a:r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r>
              <a:rPr lang="en-US" altLang="ko-KR" sz="1400"/>
              <a:t> </a:t>
            </a:r>
          </a:p>
          <a:p>
            <a:pPr marL="0" indent="0">
              <a:buNone/>
            </a:pPr>
            <a:endParaRPr lang="en-US" altLang="ko-KR" sz="14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F4944E-2F03-9C48-C99A-1D0B08DAE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70" y="2234345"/>
            <a:ext cx="3045199" cy="23893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49F380F-7611-D26D-8138-0948DE66B7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970" r="894"/>
          <a:stretch>
            <a:fillRect/>
          </a:stretch>
        </p:blipFill>
        <p:spPr>
          <a:xfrm>
            <a:off x="4498387" y="2642183"/>
            <a:ext cx="3889074" cy="197249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6494E5A-B9E7-B42C-5530-9C564CB83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979" y="3059724"/>
            <a:ext cx="3045199" cy="95628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D535D6-5992-BC8A-9D83-7F6ACE48AB4D}"/>
              </a:ext>
            </a:extLst>
          </p:cNvPr>
          <p:cNvSpPr/>
          <p:nvPr/>
        </p:nvSpPr>
        <p:spPr>
          <a:xfrm>
            <a:off x="2445269" y="4139921"/>
            <a:ext cx="637565" cy="381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B335C187-4EAD-4EF2-E848-05C8DBAC9FE1}"/>
              </a:ext>
            </a:extLst>
          </p:cNvPr>
          <p:cNvSpPr/>
          <p:nvPr/>
        </p:nvSpPr>
        <p:spPr>
          <a:xfrm>
            <a:off x="4038822" y="3687745"/>
            <a:ext cx="388611" cy="602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5A47580F-59BF-E921-ECF8-DFD05B3EEB75}"/>
              </a:ext>
            </a:extLst>
          </p:cNvPr>
          <p:cNvSpPr/>
          <p:nvPr/>
        </p:nvSpPr>
        <p:spPr>
          <a:xfrm>
            <a:off x="8458414" y="3537867"/>
            <a:ext cx="388611" cy="602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0595A2F-12DB-D014-AFF9-40CB719A17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380"/>
          <a:stretch>
            <a:fillRect/>
          </a:stretch>
        </p:blipFill>
        <p:spPr>
          <a:xfrm>
            <a:off x="896480" y="5032375"/>
            <a:ext cx="3045199" cy="156785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ABDA66-9DAA-2527-91B8-62C53D4B9A1E}"/>
              </a:ext>
            </a:extLst>
          </p:cNvPr>
          <p:cNvSpPr/>
          <p:nvPr/>
        </p:nvSpPr>
        <p:spPr>
          <a:xfrm>
            <a:off x="3160377" y="6144969"/>
            <a:ext cx="637565" cy="381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42DC4204-07D6-A870-72C0-B0C786EFB822}"/>
              </a:ext>
            </a:extLst>
          </p:cNvPr>
          <p:cNvSpPr/>
          <p:nvPr/>
        </p:nvSpPr>
        <p:spPr>
          <a:xfrm>
            <a:off x="6251729" y="5756013"/>
            <a:ext cx="388611" cy="602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D168E467-5D0C-B072-C1A0-901EE30D0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978" y="5179607"/>
            <a:ext cx="3045199" cy="95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67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65D4F-D523-B298-BDE5-A00E0B85A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B205D-0564-6672-BD04-009067220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진행세부현황</a:t>
            </a:r>
            <a:r>
              <a:rPr lang="en-US" altLang="ko-KR"/>
              <a:t>(</a:t>
            </a:r>
            <a:r>
              <a:rPr lang="en-US" altLang="ko-KR">
                <a:solidFill>
                  <a:srgbClr val="FF0000"/>
                </a:solidFill>
              </a:rPr>
              <a:t>VScode </a:t>
            </a:r>
            <a:r>
              <a:rPr lang="ko-KR" altLang="en-US">
                <a:solidFill>
                  <a:srgbClr val="FF0000"/>
                </a:solidFill>
              </a:rPr>
              <a:t>및 </a:t>
            </a:r>
            <a:r>
              <a:rPr lang="en-US" altLang="ko-KR">
                <a:solidFill>
                  <a:srgbClr val="FF0000"/>
                </a:solidFill>
              </a:rPr>
              <a:t>Linux Desktop </a:t>
            </a:r>
            <a:r>
              <a:rPr lang="ko-KR" altLang="en-US">
                <a:solidFill>
                  <a:srgbClr val="FF0000"/>
                </a:solidFill>
              </a:rPr>
              <a:t>접속 시도</a:t>
            </a:r>
            <a:r>
              <a:rPr lang="en-US" altLang="ko-KR">
                <a:solidFill>
                  <a:srgbClr val="FF0000"/>
                </a:solidFill>
              </a:rPr>
              <a:t>: </a:t>
            </a:r>
            <a:r>
              <a:rPr lang="ko-KR" altLang="en-US">
                <a:solidFill>
                  <a:srgbClr val="FF0000"/>
                </a:solidFill>
              </a:rPr>
              <a:t>실패</a:t>
            </a:r>
            <a:r>
              <a:rPr lang="en-US" altLang="ko-KR"/>
              <a:t>) 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EE8FB3-CAAD-BF86-86A6-718F4C9C2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/>
              <a:t>[vs code</a:t>
            </a:r>
            <a:r>
              <a:rPr lang="ko-KR" altLang="en-US" sz="1400"/>
              <a:t>접속 시도</a:t>
            </a:r>
            <a:r>
              <a:rPr lang="en-US" altLang="ko-KR" sz="1400"/>
              <a:t>: </a:t>
            </a:r>
            <a:r>
              <a:rPr lang="ko-KR" altLang="en-US" sz="1400" b="1"/>
              <a:t>실패</a:t>
            </a:r>
            <a:r>
              <a:rPr lang="en-US" altLang="ko-KR" sz="1400"/>
              <a:t>]</a:t>
            </a:r>
          </a:p>
          <a:p>
            <a:pPr marL="0" indent="0">
              <a:buNone/>
            </a:pPr>
            <a:r>
              <a:rPr lang="en-US" altLang="ko-KR" sz="1400"/>
              <a:t>10.107.70.156:40006 </a:t>
            </a:r>
            <a:r>
              <a:rPr lang="ko-KR" altLang="en-US" sz="1400"/>
              <a:t>으로 리다이렉트됨</a:t>
            </a: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r>
              <a:rPr lang="en-US" altLang="ko-KR" sz="1400"/>
              <a:t>[Test-NetConnection 10.107.70.156 –Port 40006 </a:t>
            </a:r>
            <a:r>
              <a:rPr lang="ko-KR" altLang="en-US" sz="1400"/>
              <a:t>으로 연결 확인</a:t>
            </a:r>
            <a:r>
              <a:rPr lang="en-US" altLang="ko-KR" sz="1400"/>
              <a:t>]</a:t>
            </a:r>
          </a:p>
          <a:p>
            <a:pPr marL="0" indent="0">
              <a:buNone/>
            </a:pPr>
            <a:r>
              <a:rPr lang="en-US" altLang="ko-KR" sz="1400"/>
              <a:t>-&gt; </a:t>
            </a:r>
            <a:r>
              <a:rPr lang="ko-KR" altLang="en-US" sz="1400" b="1"/>
              <a:t>실패</a:t>
            </a:r>
            <a:endParaRPr lang="en-US" altLang="ko-KR" sz="1400" b="1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r>
              <a:rPr lang="en-US" altLang="ko-KR" sz="1400"/>
              <a:t> </a:t>
            </a:r>
          </a:p>
          <a:p>
            <a:pPr marL="0" indent="0">
              <a:buNone/>
            </a:pPr>
            <a:endParaRPr lang="en-US" altLang="ko-KR" sz="1400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FE8463EF-96A0-AF62-5EE3-7B4F1DF08C54}"/>
              </a:ext>
            </a:extLst>
          </p:cNvPr>
          <p:cNvSpPr/>
          <p:nvPr/>
        </p:nvSpPr>
        <p:spPr>
          <a:xfrm>
            <a:off x="6275524" y="2949924"/>
            <a:ext cx="388611" cy="602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77B99E-6918-F8CA-D978-5B1C9745F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88916"/>
            <a:ext cx="4619625" cy="112395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042C2E9-BD4E-2F6C-4E6A-EA7AC70D3F43}"/>
              </a:ext>
            </a:extLst>
          </p:cNvPr>
          <p:cNvSpPr/>
          <p:nvPr/>
        </p:nvSpPr>
        <p:spPr>
          <a:xfrm>
            <a:off x="4551903" y="3150891"/>
            <a:ext cx="490360" cy="4685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B6FF914-831D-64CF-93CF-3D1BFF35A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219" y="2009775"/>
            <a:ext cx="3001497" cy="188029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513C5EF-8354-E359-4D77-2857CF41C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829" y="4502150"/>
            <a:ext cx="4648200" cy="18097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ABC5890-4139-14CC-27AF-84AEB7C3E567}"/>
              </a:ext>
            </a:extLst>
          </p:cNvPr>
          <p:cNvSpPr txBox="1"/>
          <p:nvPr/>
        </p:nvSpPr>
        <p:spPr>
          <a:xfrm>
            <a:off x="9194242" y="5616336"/>
            <a:ext cx="1426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</a:rPr>
              <a:t>현재 사용자 </a:t>
            </a:r>
            <a:r>
              <a:rPr lang="en-US" altLang="ko-KR" sz="1200">
                <a:solidFill>
                  <a:srgbClr val="FF0000"/>
                </a:solidFill>
              </a:rPr>
              <a:t>ip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8F5B508-FE89-584E-5531-C87E4E1A6BC0}"/>
              </a:ext>
            </a:extLst>
          </p:cNvPr>
          <p:cNvSpPr/>
          <p:nvPr/>
        </p:nvSpPr>
        <p:spPr>
          <a:xfrm>
            <a:off x="8100645" y="5698333"/>
            <a:ext cx="1013209" cy="1849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BCD2EF8-51A3-7D0E-764F-9CA2B62EE581}"/>
              </a:ext>
            </a:extLst>
          </p:cNvPr>
          <p:cNvSpPr/>
          <p:nvPr/>
        </p:nvSpPr>
        <p:spPr>
          <a:xfrm>
            <a:off x="8100644" y="6084486"/>
            <a:ext cx="450503" cy="1849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929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D249E-6657-9191-EC50-D39FEF743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F594B-4DD3-20A6-98CE-A2DA5A49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진행세부현황</a:t>
            </a:r>
            <a:r>
              <a:rPr lang="en-US" altLang="ko-KR"/>
              <a:t>(</a:t>
            </a:r>
            <a:r>
              <a:rPr lang="ko-KR" altLang="en-US"/>
              <a:t>네트워크</a:t>
            </a:r>
            <a:r>
              <a:rPr lang="en-US" altLang="ko-KR"/>
              <a:t> </a:t>
            </a:r>
            <a:r>
              <a:rPr lang="ko-KR" altLang="en-US"/>
              <a:t>확인</a:t>
            </a:r>
            <a:r>
              <a:rPr lang="en-US" altLang="ko-KR"/>
              <a:t>) 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FCD2D-7CB9-54B6-15C3-4222D7D03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/>
              <a:t>[</a:t>
            </a:r>
            <a:r>
              <a:rPr lang="ko-KR" altLang="en-US" sz="1400"/>
              <a:t>추정 원인</a:t>
            </a:r>
            <a:r>
              <a:rPr lang="en-US" altLang="ko-KR" sz="1400"/>
              <a:t>] </a:t>
            </a:r>
          </a:p>
          <a:p>
            <a:pPr marL="0" indent="0">
              <a:buNone/>
            </a:pPr>
            <a:r>
              <a:rPr lang="en-US" altLang="ko-KR" sz="1400"/>
              <a:t>vpn </a:t>
            </a:r>
            <a:r>
              <a:rPr lang="ko-KR" altLang="en-US" sz="1400"/>
              <a:t>연결 및 임대 </a:t>
            </a:r>
            <a:r>
              <a:rPr lang="en-US" altLang="ko-KR" sz="1400"/>
              <a:t>IP(192.168.250.5) </a:t>
            </a:r>
            <a:r>
              <a:rPr lang="ko-KR" altLang="en-US" sz="1400"/>
              <a:t>할당</a:t>
            </a:r>
            <a:endParaRPr lang="en-US" altLang="ko-KR" sz="1400"/>
          </a:p>
          <a:p>
            <a:pPr marL="0" indent="0">
              <a:buNone/>
            </a:pPr>
            <a:r>
              <a:rPr lang="ko-KR" altLang="en-US" sz="1400"/>
              <a:t>컨테이너 생성 및 관련 설치 프로그램은 정상 실행된 것으로 보임</a:t>
            </a:r>
            <a:endParaRPr lang="en-US" altLang="ko-KR" sz="1400"/>
          </a:p>
          <a:p>
            <a:pPr marL="0" indent="0">
              <a:buNone/>
            </a:pPr>
            <a:r>
              <a:rPr lang="ko-KR" altLang="en-US" sz="1400"/>
              <a:t>컨테이너 내부 </a:t>
            </a:r>
            <a:r>
              <a:rPr lang="en-US" altLang="ko-KR" sz="1400"/>
              <a:t>vscode</a:t>
            </a:r>
            <a:r>
              <a:rPr lang="ko-KR" altLang="en-US" sz="1400"/>
              <a:t> 도 </a:t>
            </a:r>
            <a:r>
              <a:rPr lang="en-US" altLang="ko-KR" sz="1400"/>
              <a:t>0.0.0.0:8081 </a:t>
            </a:r>
            <a:r>
              <a:rPr lang="ko-KR" altLang="en-US" sz="1400"/>
              <a:t>에서 정상 실행 중</a:t>
            </a:r>
            <a:endParaRPr lang="en-US" altLang="ko-KR" sz="1400"/>
          </a:p>
          <a:p>
            <a:pPr marL="0" indent="0">
              <a:buNone/>
            </a:pPr>
            <a:r>
              <a:rPr lang="en-US" altLang="ko-KR" sz="1400"/>
              <a:t>RNTier </a:t>
            </a:r>
            <a:r>
              <a:rPr lang="ko-KR" altLang="en-US" sz="1400"/>
              <a:t>가 제공한 </a:t>
            </a:r>
            <a:r>
              <a:rPr lang="en-US" altLang="ko-KR" sz="1400"/>
              <a:t>VS code/webTerm </a:t>
            </a:r>
            <a:r>
              <a:rPr lang="ko-KR" altLang="en-US" sz="1400"/>
              <a:t>주소 </a:t>
            </a:r>
            <a:r>
              <a:rPr lang="en-US" altLang="ko-KR" sz="1400"/>
              <a:t>(10.107.70.156:40006) </a:t>
            </a:r>
            <a:r>
              <a:rPr lang="ko-KR" altLang="en-US" sz="1400"/>
              <a:t>접근 시 </a:t>
            </a:r>
            <a:r>
              <a:rPr lang="en-US" altLang="ko-KR" sz="1400"/>
              <a:t>timeout </a:t>
            </a:r>
            <a:r>
              <a:rPr lang="ko-KR" altLang="en-US" sz="1400"/>
              <a:t>발생</a:t>
            </a:r>
            <a:r>
              <a:rPr lang="en-US" altLang="ko-KR" sz="1400"/>
              <a:t>, </a:t>
            </a:r>
          </a:p>
          <a:p>
            <a:pPr marL="0" indent="0">
              <a:buNone/>
            </a:pPr>
            <a:r>
              <a:rPr lang="ko-KR" altLang="en-US" sz="1400"/>
              <a:t>확인 결과 </a:t>
            </a:r>
            <a:r>
              <a:rPr lang="en-US" altLang="ko-KR" sz="1400"/>
              <a:t>VPN </a:t>
            </a:r>
            <a:r>
              <a:rPr lang="ko-KR" altLang="en-US" sz="1400"/>
              <a:t>에는 아래 사진과 같은 경로만 배포되어있음</a:t>
            </a:r>
            <a:r>
              <a:rPr lang="en-US" altLang="ko-KR" sz="1400"/>
              <a:t> </a:t>
            </a:r>
          </a:p>
          <a:p>
            <a:pPr marL="0" indent="0">
              <a:buNone/>
            </a:pPr>
            <a:endParaRPr lang="en-US" altLang="ko-KR" sz="14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0C7C66B-B751-83F4-EA1F-D4248074C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4521200"/>
            <a:ext cx="100774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62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4E5D-ABD1-D6B0-505C-2257CCF88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30EDD-5A01-DEA0-9F2D-A262FD480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현황 요약 및 추정 원인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EE8492-7322-976A-7D14-F8C773C8A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/>
              <a:t>[</a:t>
            </a:r>
            <a:r>
              <a:rPr lang="ko-KR" altLang="en-US" sz="1400"/>
              <a:t>현황 요약</a:t>
            </a:r>
            <a:r>
              <a:rPr lang="en-US" altLang="ko-KR" sz="1400"/>
              <a:t>]</a:t>
            </a:r>
          </a:p>
          <a:p>
            <a:pPr marL="0" indent="0">
              <a:buNone/>
            </a:pPr>
            <a:r>
              <a:rPr lang="en-US" altLang="ko-KR" sz="1400"/>
              <a:t>vpn </a:t>
            </a:r>
            <a:r>
              <a:rPr lang="ko-KR" altLang="en-US" sz="1400"/>
              <a:t>연결 및 임대 </a:t>
            </a:r>
            <a:r>
              <a:rPr lang="en-US" altLang="ko-KR" sz="1400"/>
              <a:t>IP(192.168.250.5) </a:t>
            </a:r>
            <a:r>
              <a:rPr lang="ko-KR" altLang="en-US" sz="1400"/>
              <a:t>할당</a:t>
            </a:r>
            <a:endParaRPr lang="en-US" altLang="ko-KR" sz="1400"/>
          </a:p>
          <a:p>
            <a:pPr marL="0" indent="0">
              <a:buNone/>
            </a:pPr>
            <a:r>
              <a:rPr lang="ko-KR" altLang="en-US" sz="1400"/>
              <a:t>컨테이너 생성 및 관련 설치 프로그램은 정상 실행된 것으로 보임</a:t>
            </a:r>
            <a:endParaRPr lang="en-US" altLang="ko-KR" sz="1400"/>
          </a:p>
          <a:p>
            <a:pPr marL="0" indent="0">
              <a:buNone/>
            </a:pPr>
            <a:r>
              <a:rPr lang="ko-KR" altLang="en-US" sz="1400"/>
              <a:t>컨테이너 내부 </a:t>
            </a:r>
            <a:r>
              <a:rPr lang="en-US" altLang="ko-KR" sz="1400"/>
              <a:t>vscode</a:t>
            </a:r>
            <a:r>
              <a:rPr lang="ko-KR" altLang="en-US" sz="1400"/>
              <a:t> 도 </a:t>
            </a:r>
            <a:r>
              <a:rPr lang="en-US" altLang="ko-KR" sz="1400"/>
              <a:t>0.0.0.0:8081 </a:t>
            </a:r>
            <a:r>
              <a:rPr lang="ko-KR" altLang="en-US" sz="1400"/>
              <a:t>에서 정상 실행 중</a:t>
            </a:r>
            <a:endParaRPr lang="en-US" altLang="ko-KR" sz="1400"/>
          </a:p>
          <a:p>
            <a:pPr marL="0" indent="0">
              <a:buNone/>
            </a:pPr>
            <a:r>
              <a:rPr lang="en-US" altLang="ko-KR" sz="1400"/>
              <a:t>RNTier </a:t>
            </a:r>
            <a:r>
              <a:rPr lang="ko-KR" altLang="en-US" sz="1400"/>
              <a:t>가 제공한 </a:t>
            </a:r>
            <a:r>
              <a:rPr lang="en-US" altLang="ko-KR" sz="1400"/>
              <a:t>VS code/webTerm </a:t>
            </a:r>
            <a:r>
              <a:rPr lang="ko-KR" altLang="en-US" sz="1400"/>
              <a:t>주소 </a:t>
            </a:r>
            <a:r>
              <a:rPr lang="en-US" altLang="ko-KR" sz="1400"/>
              <a:t>(10.107.70.156:40006) </a:t>
            </a:r>
            <a:r>
              <a:rPr lang="ko-KR" altLang="en-US" sz="1400"/>
              <a:t>접근 시 </a:t>
            </a:r>
            <a:r>
              <a:rPr lang="en-US" altLang="ko-KR" sz="1400"/>
              <a:t>timeout </a:t>
            </a:r>
            <a:r>
              <a:rPr lang="ko-KR" altLang="en-US" sz="1400"/>
              <a:t>발생</a:t>
            </a:r>
            <a:r>
              <a:rPr lang="en-US" altLang="ko-KR" sz="1400"/>
              <a:t>, </a:t>
            </a:r>
          </a:p>
          <a:p>
            <a:pPr marL="0" indent="0">
              <a:buNone/>
            </a:pPr>
            <a:r>
              <a:rPr lang="ko-KR" altLang="en-US" sz="1400"/>
              <a:t>확인 결과 </a:t>
            </a:r>
            <a:r>
              <a:rPr lang="en-US" altLang="ko-KR" sz="1400"/>
              <a:t>VPN </a:t>
            </a:r>
            <a:r>
              <a:rPr lang="ko-KR" altLang="en-US" sz="1400"/>
              <a:t>에는 아래 사진과 같은 경로만 배포되어있음</a:t>
            </a:r>
            <a:r>
              <a:rPr lang="en-US" altLang="ko-KR" sz="1400"/>
              <a:t> </a:t>
            </a:r>
          </a:p>
          <a:p>
            <a:pPr marL="0" indent="0">
              <a:buNone/>
            </a:pPr>
            <a:r>
              <a:rPr lang="en-US" altLang="ko-KR" sz="1400">
                <a:solidFill>
                  <a:srgbClr val="FF0000"/>
                </a:solidFill>
              </a:rPr>
              <a:t>[</a:t>
            </a:r>
            <a:r>
              <a:rPr lang="ko-KR" altLang="en-US" sz="1400">
                <a:solidFill>
                  <a:srgbClr val="FF0000"/>
                </a:solidFill>
              </a:rPr>
              <a:t>추정 원인</a:t>
            </a:r>
            <a:r>
              <a:rPr lang="en-US" altLang="ko-KR" sz="1400">
                <a:solidFill>
                  <a:srgbClr val="FF0000"/>
                </a:solidFill>
              </a:rPr>
              <a:t>] </a:t>
            </a:r>
          </a:p>
          <a:p>
            <a:pPr marL="0" indent="0">
              <a:buNone/>
            </a:pPr>
            <a:r>
              <a:rPr lang="en-US" altLang="ko-KR" sz="1400">
                <a:solidFill>
                  <a:srgbClr val="FF0000"/>
                </a:solidFill>
              </a:rPr>
              <a:t>VPN </a:t>
            </a:r>
            <a:r>
              <a:rPr lang="ko-KR" altLang="en-US" sz="1400">
                <a:solidFill>
                  <a:srgbClr val="FF0000"/>
                </a:solidFill>
              </a:rPr>
              <a:t>임대 대역에서 </a:t>
            </a:r>
            <a:r>
              <a:rPr lang="en-US" altLang="ko-KR" sz="1400">
                <a:solidFill>
                  <a:srgbClr val="FF0000"/>
                </a:solidFill>
              </a:rPr>
              <a:t>RNTier </a:t>
            </a:r>
            <a:r>
              <a:rPr lang="ko-KR" altLang="en-US" sz="1400">
                <a:solidFill>
                  <a:srgbClr val="FF0000"/>
                </a:solidFill>
              </a:rPr>
              <a:t>컨테이너망으로의 연결 단절 </a:t>
            </a:r>
            <a:r>
              <a:rPr lang="en-US" altLang="ko-KR" sz="1400">
                <a:solidFill>
                  <a:srgbClr val="FF0000"/>
                </a:solidFill>
              </a:rPr>
              <a:t>/ </a:t>
            </a:r>
            <a:r>
              <a:rPr lang="ko-KR" altLang="en-US" sz="1400">
                <a:solidFill>
                  <a:srgbClr val="FF0000"/>
                </a:solidFill>
              </a:rPr>
              <a:t>권한 문제</a:t>
            </a:r>
            <a:endParaRPr lang="en-US" altLang="ko-KR" sz="140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14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8127874-B572-BBC1-815C-0A92DD42D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21200"/>
            <a:ext cx="100774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689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519</Words>
  <Application>Microsoft Office PowerPoint</Application>
  <PresentationFormat>와이드스크린</PresentationFormat>
  <Paragraphs>101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증상 리포트</vt:lpstr>
      <vt:lpstr>기본정보</vt:lpstr>
      <vt:lpstr>증상 요약 </vt:lpstr>
      <vt:lpstr>진행세부현황(VPN 설치 및 로그인:성공) </vt:lpstr>
      <vt:lpstr>진행세부현황(RNTier 접속, 로그인:성공) </vt:lpstr>
      <vt:lpstr>진행세부현황(RNTier 관련 설치: 성공) </vt:lpstr>
      <vt:lpstr>진행세부현황(컨테이너 생성) </vt:lpstr>
      <vt:lpstr>진행세부현황(컨테이너 생성) </vt:lpstr>
      <vt:lpstr>진행세부현황(컨테이너 생성) </vt:lpstr>
      <vt:lpstr>진행세부현황(컨테이너 생성) </vt:lpstr>
      <vt:lpstr>진행세부현황(컨테이너 생성) </vt:lpstr>
      <vt:lpstr>진행세부현황(컨테이너 생성) </vt:lpstr>
      <vt:lpstr>진행세부현황(VScode 및 Linux Desktop 접속 시도: 실패) </vt:lpstr>
      <vt:lpstr>진행세부현황(VScode 및 Linux Desktop 접속 시도: 실패) </vt:lpstr>
      <vt:lpstr>진행세부현황(네트워크 확인) </vt:lpstr>
      <vt:lpstr>현황 요약 및 추정 원인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jmj8521@gmail.com</dc:creator>
  <cp:lastModifiedBy>jmj8521@gmail.com</cp:lastModifiedBy>
  <cp:revision>10</cp:revision>
  <dcterms:created xsi:type="dcterms:W3CDTF">2026-10-06T08:23:14Z</dcterms:created>
  <dcterms:modified xsi:type="dcterms:W3CDTF">2026-10-06T09:34:58Z</dcterms:modified>
</cp:coreProperties>
</file>